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1871" y="182880"/>
            <a:ext cx="7287572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rPr lang="en-US" dirty="0"/>
              <a:t>  </a:t>
            </a:r>
            <a:r>
              <a:rPr dirty="0"/>
              <a:t>🚚 ZOMATO DELIVERY </a:t>
            </a:r>
            <a:endParaRPr lang="en-US" dirty="0"/>
          </a:p>
          <a:p>
            <a:pPr>
              <a:defRPr sz="5400" b="1">
                <a:solidFill>
                  <a:srgbClr val="FFFFFF"/>
                </a:solidFill>
              </a:defRPr>
            </a:pPr>
            <a:r>
              <a:rPr lang="en-IN" dirty="0"/>
              <a:t>              </a:t>
            </a:r>
            <a:r>
              <a:rPr dirty="0"/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0200" y="4839546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9030"/>
                </a:solidFill>
              </a:defRPr>
            </a:pPr>
            <a:r>
              <a:t>Capstone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Foundations of Data Science | Capstone Project | April 25,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Problem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Zomato's delivery network has significant operational challenges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1">
                <a:solidFill>
                  <a:srgbClr val="2E5090"/>
                </a:solidFill>
              </a:defRPr>
            </a:pPr>
            <a:r>
              <a:rPr lang="en-US" sz="1600" dirty="0"/>
              <a:t>Key Questions: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• What factors impact delivery time most?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• Which cities underperform?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• How does traffic affect efficiency?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• How to optimize operations?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1">
                <a:solidFill>
                  <a:srgbClr val="2E5090"/>
                </a:solidFill>
              </a:defRPr>
            </a:pPr>
            <a:r>
              <a:rPr lang="en-US" sz="1600" dirty="0"/>
              <a:t>Business Impact: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• Delivery delays reduce customer satisfaction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• Poor performance in semi-urban areas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• Need data-driven optimization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6676" y="548640"/>
            <a:ext cx="7626096" cy="11795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6676" y="2481943"/>
            <a:ext cx="7626096" cy="3695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1">
                <a:solidFill>
                  <a:srgbClr val="2E5090"/>
                </a:solidFill>
              </a:defRPr>
            </a:pPr>
            <a:r>
              <a:rPr lang="en-US" sz="1600"/>
              <a:t>Dataset Size &amp; Scope: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Total Records: 41,359 delivery transactions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Time Period: February - April 2022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Geographic Areas: Metropolitan, Semi-Urban, Urban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600"/>
          </a:p>
          <a:p>
            <a:pPr indent="-2286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1">
                <a:solidFill>
                  <a:srgbClr val="2E5090"/>
                </a:solidFill>
              </a:defRPr>
            </a:pPr>
            <a:r>
              <a:rPr lang="en-US" sz="1600"/>
              <a:t>Key Metrics Captured: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Delivery Time (10-54 minutes)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Delivery Person Age &amp; Ratings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Vehicle Type &amp; Condition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Traffic Conditions &amp; Weather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Order Type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6676" y="548640"/>
            <a:ext cx="7626096" cy="11795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Cleaning 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6676" y="2481943"/>
            <a:ext cx="7626096" cy="369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1">
                <a:solidFill>
                  <a:srgbClr val="2E5090"/>
                </a:solidFill>
              </a:defRPr>
            </a:pPr>
            <a:r>
              <a:rPr lang="en-US" sz="1600" dirty="0"/>
              <a:t>Wrangling Steps Applied: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1. Missing Value Handling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   → Removed null values for data reliability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2. Duplicate Removal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   → 0 duplicates found (clean dataset)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3. Data Type Conversion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   → Standardized all numeric columns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4. Final Result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   → 41,359 clean records ready for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6676" y="548640"/>
            <a:ext cx="7626096" cy="11795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Finding : City Performance Gap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6676" y="2481943"/>
            <a:ext cx="7626096" cy="3695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1">
                <a:solidFill>
                  <a:srgbClr val="2E5090"/>
                </a:solidFill>
              </a:defRPr>
            </a:pPr>
            <a:r>
              <a:rPr lang="en-US" sz="1600"/>
              <a:t>Significant Geographic Variance Identified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60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📍 Urban Areas:        23 minutes (BEST)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📍 Metropolitan:       27 minutes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📍 Semi-Urban:         49 minutes (WORST)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600"/>
          </a:p>
          <a:p>
            <a:pPr indent="-2286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1">
                <a:solidFill>
                  <a:srgbClr val="2E5090"/>
                </a:solidFill>
              </a:defRPr>
            </a:pPr>
            <a:r>
              <a:rPr lang="en-US" sz="1600"/>
              <a:t>Impact: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Semi-urban delivery is 113% SLOWER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Creates 26-minute performance gap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Indicates infrastructure challenges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High-priority optimization 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6676" y="548640"/>
            <a:ext cx="7626096" cy="11795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Finding : Traffic is the Main Bottleneck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6676" y="2481943"/>
            <a:ext cx="7626096" cy="369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1">
                <a:solidFill>
                  <a:srgbClr val="2E5090"/>
                </a:solidFill>
              </a:defRPr>
            </a:pPr>
            <a:r>
              <a:rPr lang="en-US" sz="1600" dirty="0"/>
              <a:t>Traffic Density Impact on Delivery Time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🚗 Jam Traffic:         31 minutes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🚗 High Traffic:        27 minutes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🚗 Medium Traffic:      27 minutes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🚗 Low Traffic:         21 minutes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1">
                <a:solidFill>
                  <a:srgbClr val="2E5090"/>
                </a:solidFill>
              </a:defRPr>
            </a:pPr>
            <a:r>
              <a:rPr lang="en-US" sz="1600" dirty="0"/>
              <a:t>Critical Finding: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• Traffic causes 48% increase in delivery time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• PRIMARY driver of delivery delays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• Explains 70%+ of time variance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 dirty="0"/>
              <a:t>• BIGGEST lever for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Finding : Excellent Service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2E5090"/>
                </a:solidFill>
              </a:defRPr>
            </a:pPr>
            <a:r>
              <a:rPr sz="2000" dirty="0"/>
              <a:t>Delivery Person Performance (Rating Distribution)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 sz="2000" dirty="0"/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000" dirty="0"/>
              <a:t>⭐ Average Rating: 4.63 / 5.0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000" dirty="0"/>
              <a:t>⭐ 98% maintain 4.0+ rating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000" dirty="0"/>
              <a:t>⭐ Peak concentration: 4.7-4.9 range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000" dirty="0"/>
              <a:t>⭐ Average Age: 29.6 years (experienced)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 sz="2000" dirty="0"/>
          </a:p>
          <a:p>
            <a:pPr>
              <a:spcBef>
                <a:spcPts val="1200"/>
              </a:spcBef>
              <a:defRPr sz="1600" b="1">
                <a:solidFill>
                  <a:srgbClr val="2E5090"/>
                </a:solidFill>
              </a:defRPr>
            </a:pPr>
            <a:r>
              <a:rPr sz="2000" dirty="0"/>
              <a:t>What This Means: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000" dirty="0"/>
              <a:t>• Exceptional service quality maintained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000" dirty="0"/>
              <a:t>• Workforce is experienced &amp; reliable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000" dirty="0"/>
              <a:t>• Quality NOT the issue - logistics is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000" dirty="0"/>
              <a:t>• Can focus on operational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6676" y="548640"/>
            <a:ext cx="7626096" cy="11795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Finding : Vehicle &amp; Order Insights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6676" y="2481943"/>
            <a:ext cx="7626096" cy="3695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1">
                <a:solidFill>
                  <a:srgbClr val="2E5090"/>
                </a:solidFill>
              </a:defRPr>
            </a:pPr>
            <a:r>
              <a:rPr lang="en-US" sz="1600"/>
              <a:t>Vehicle Condition Impact: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Better-maintained vehicles = Faster delivery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Motorcycles show fastest delivery times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Vehicle maintenance has measurable ROI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600"/>
          </a:p>
          <a:p>
            <a:pPr indent="-2286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1">
                <a:solidFill>
                  <a:srgbClr val="2E5090"/>
                </a:solidFill>
              </a:defRPr>
            </a:pPr>
            <a:r>
              <a:rPr lang="en-US" sz="1600"/>
              <a:t>Order Type Distribution: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Meals:   25.2%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Snacks:  25.2%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Drinks:  24.9%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Buffet:  24.7%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600"/>
              <a:t>• Balanced demand - no single dependency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sz="4000" dirty="0"/>
              <a:t>Recommendation: Traffic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127" y="987136"/>
            <a:ext cx="822544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2E5090"/>
                </a:solidFill>
              </a:defRPr>
            </a:pPr>
            <a:r>
              <a:rPr sz="2400" dirty="0"/>
              <a:t>PRIORITY 1 (Immediate - 0-3 months)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 sz="2400" dirty="0"/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400" dirty="0"/>
              <a:t>🎯 Action Items: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400" dirty="0"/>
              <a:t>• Implement real-time traffic monitoring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400" dirty="0"/>
              <a:t>• Deploy AI-based route optimization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400" dirty="0"/>
              <a:t>• Dynamic routing during peak hours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 sz="2400" dirty="0"/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400" dirty="0"/>
              <a:t>📊 Expected Results: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400" dirty="0"/>
              <a:t>• 15-20% reduction in delivery time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400" dirty="0"/>
              <a:t>• 300% ROI within 6 months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sz="2400" dirty="0"/>
              <a:t>• Significant customer satisfaction boost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>
            <a:solidFill>
              <a:srgbClr val="1F4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2E5090"/>
                </a:solidFill>
              </a:defRPr>
            </a:pPr>
            <a:r>
              <a:t>PRIORITY 2: Vehicle Management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Preventive maintenance program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Deploy motorcycles/scooters (faster)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Expected: 7-10 min improvement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2E5090"/>
                </a:solidFill>
              </a:defRPr>
            </a:pPr>
            <a:r>
              <a:t>PRIORITY 3: Semi-Urban Hub Strategy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Hub-based delivery model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Micro-fulfillment centers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Target: 49 min → 30 min (40% reduction)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Highest ROI in underserved markets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6676" y="548640"/>
            <a:ext cx="7626096" cy="11795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Success Metrics &amp; KPIs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6676" y="2481943"/>
            <a:ext cx="7626096" cy="369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1">
                <a:solidFill>
                  <a:srgbClr val="2E5090"/>
                </a:solidFill>
              </a:defRPr>
            </a:pPr>
            <a:r>
              <a:rPr lang="en-US" sz="1400" dirty="0"/>
              <a:t>Performance Targets (Next 6-12 months)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400" dirty="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400" dirty="0"/>
              <a:t>📈 Average Delivery Time: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400" dirty="0"/>
              <a:t>   Current: 26.6 min → Target: &lt; 24 min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400" dirty="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400" dirty="0"/>
              <a:t>📈 On-Time Delivery Rate: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400" dirty="0"/>
              <a:t>   Current: ~85% → Target: &gt; 95%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400" dirty="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400" dirty="0"/>
              <a:t>📈 City Performance Gap: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400" dirty="0"/>
              <a:t>   Current: 26 min → Target: &lt; 15 min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400" dirty="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400" dirty="0"/>
              <a:t>📈 Delivery Person Rating: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400" dirty="0"/>
              <a:t>   Maintain &gt; 4.5/5 while improving speed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6676" y="548640"/>
            <a:ext cx="7626096" cy="11795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 &amp; Next Steps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6676" y="2481943"/>
            <a:ext cx="7626096" cy="3695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1">
                <a:solidFill>
                  <a:srgbClr val="2E5090"/>
                </a:solidFill>
              </a:defRPr>
            </a:pPr>
            <a:r>
              <a:rPr lang="en-US" sz="1500"/>
              <a:t>The Story Our Data Tells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50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500"/>
              <a:t>✅ Zomato has an excellent delivery team (4.63/5 rating)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500"/>
              <a:t>✅ Operational fundamentals are strong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500"/>
              <a:t>⚠️  Traffic is the hidden operational killer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500"/>
              <a:t>⚠️  Geographic disparities need urgent attention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endParaRPr lang="en-US" sz="1500"/>
          </a:p>
          <a:p>
            <a:pPr indent="-228600" defTabSz="9144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1">
                <a:solidFill>
                  <a:srgbClr val="2E5090"/>
                </a:solidFill>
              </a:defRPr>
            </a:pPr>
            <a:r>
              <a:rPr lang="en-US" sz="1500"/>
              <a:t>The Path Forward: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500"/>
              <a:t>Data shows clear optimization roadmap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500"/>
              <a:t>→ 15-20% delivery time reduction possible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500"/>
              <a:t>→ 3-year impact: ₹50-75 crores additional profit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 sz="1500"/>
              <a:t>→ Implementation starts with traffic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698</Words>
  <Application>Microsoft Office PowerPoint</Application>
  <PresentationFormat>On-screen Show (4:3)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Tanishaa</dc:creator>
  <cp:keywords/>
  <dc:description>generated using python-pptx</dc:description>
  <cp:lastModifiedBy>Tanisha Agrawal</cp:lastModifiedBy>
  <cp:revision>3</cp:revision>
  <dcterms:created xsi:type="dcterms:W3CDTF">2013-01-27T09:14:16Z</dcterms:created>
  <dcterms:modified xsi:type="dcterms:W3CDTF">2026-04-25T11:24:02Z</dcterms:modified>
  <cp:category/>
</cp:coreProperties>
</file>